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706" r:id="rId1"/>
  </p:sldMasterIdLst>
  <p:notesMasterIdLst>
    <p:notesMasterId r:id="rId12"/>
  </p:notesMasterIdLst>
  <p:sldIdLst>
    <p:sldId id="362" r:id="rId2"/>
    <p:sldId id="280" r:id="rId3"/>
    <p:sldId id="283" r:id="rId4"/>
    <p:sldId id="351" r:id="rId5"/>
    <p:sldId id="374" r:id="rId6"/>
    <p:sldId id="375" r:id="rId7"/>
    <p:sldId id="376" r:id="rId8"/>
    <p:sldId id="378" r:id="rId9"/>
    <p:sldId id="379" r:id="rId10"/>
    <p:sldId id="380" r:id="rId11"/>
  </p:sldIdLst>
  <p:sldSz cx="12192000" cy="6858000"/>
  <p:notesSz cx="6858000" cy="9144000"/>
  <p:embeddedFontLst>
    <p:embeddedFont>
      <p:font typeface="Charité Headline Office" pitchFamily="2" charset="0"/>
      <p:regular r:id="rId13"/>
      <p:bold r:id="rId14"/>
      <p:italic r:id="rId15"/>
      <p:boldItalic r:id="rId16"/>
    </p:embeddedFont>
    <p:embeddedFont>
      <p:font typeface="Charité Headline Office Light" pitchFamily="2" charset="0"/>
      <p:regular r:id="rId17"/>
      <p:italic r:id="rId18"/>
    </p:embeddedFont>
    <p:embeddedFont>
      <p:font typeface="Charité Text Office" pitchFamily="2" charset="0"/>
      <p:regular r:id="rId19"/>
      <p:bold r:id="rId20"/>
      <p:italic r:id="rId21"/>
      <p:boldItalic r:id="rId22"/>
    </p:embeddedFont>
    <p:embeddedFont>
      <p:font typeface="Charité Text Office Medium" pitchFamily="2" charset="0"/>
      <p:regular r:id="rId23"/>
      <p:bold r:id="rId24"/>
      <p:italic r:id="rId25"/>
    </p:embeddedFont>
    <p:embeddedFont>
      <p:font typeface="Fira Code" pitchFamily="49" charset="0"/>
      <p:regular r:id="rId26"/>
      <p:bold r:id="rId2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B21217-DC8A-3269-F82B-74BE85584BA0}" name="Proofreader" initials="P" userId="Proofreader" providerId="None"/>
  <p188:author id="{7674D6A3-D6EB-0E93-E4D4-F526F16E36B9}" name="Peggy Lindner" initials="PL" userId="936cbb8f28507a1c" providerId="Windows Live"/>
  <p188:author id="{982159E5-69EB-6507-2A2C-6755E650C527}" name="Nina Goebel" initials="NG" userId="ad04b14e6d1f10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na Goebel" initials="NG" lastIdx="1" clrIdx="0">
    <p:extLst>
      <p:ext uri="{19B8F6BF-5375-455C-9EA6-DF929625EA0E}">
        <p15:presenceInfo xmlns:p15="http://schemas.microsoft.com/office/powerpoint/2012/main" userId="ad04b14e6d1f10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AD6C"/>
    <a:srgbClr val="D31D19"/>
    <a:srgbClr val="CBCFD2"/>
    <a:srgbClr val="7E898F"/>
    <a:srgbClr val="5E676C"/>
    <a:srgbClr val="0077BE"/>
    <a:srgbClr val="004D9B"/>
    <a:srgbClr val="002552"/>
    <a:srgbClr val="EA5451"/>
    <a:srgbClr val="E5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4" autoAdjust="0"/>
    <p:restoredTop sz="94605" autoAdjust="0"/>
  </p:normalViewPr>
  <p:slideViewPr>
    <p:cSldViewPr snapToGrid="0" showGuides="1">
      <p:cViewPr varScale="1">
        <p:scale>
          <a:sx n="221" d="100"/>
          <a:sy n="221" d="100"/>
        </p:scale>
        <p:origin x="3864" y="176"/>
      </p:cViewPr>
      <p:guideLst>
        <p:guide pos="48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970"/>
    </p:cViewPr>
  </p:sorterViewPr>
  <p:notesViewPr>
    <p:cSldViewPr snapToGrid="0" showGuides="1">
      <p:cViewPr varScale="1">
        <p:scale>
          <a:sx n="97" d="100"/>
          <a:sy n="97" d="100"/>
        </p:scale>
        <p:origin x="268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harité Text Office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harité Text Office" pitchFamily="2" charset="0"/>
              </a:defRPr>
            </a:lvl1pPr>
          </a:lstStyle>
          <a:p>
            <a:fld id="{9A065712-CC01-4EEB-96F7-64B7891CA6B4}" type="datetimeFigureOut">
              <a:rPr lang="de-DE" smtClean="0"/>
              <a:pPr/>
              <a:t>04.02.26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harité Text Office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harité Text Office" pitchFamily="2" charset="0"/>
              </a:defRPr>
            </a:lvl1pPr>
          </a:lstStyle>
          <a:p>
            <a:fld id="{824D9D30-8414-458A-8EC3-63F2EE29313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536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harité Text Office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B985E58-73E2-B29E-A012-2F63CE235319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3E72B6-CD3E-AC98-4643-9EE1A95560D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5B4324-9483-AD08-A73D-10755027B2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73DD7CD-320F-0C40-8320-F1C3F4BB0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1601" y="571499"/>
            <a:ext cx="4558049" cy="5713413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095E5C9-E920-0580-7ADC-22B0168C4F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192" y="3999600"/>
            <a:ext cx="2034000" cy="228600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85200" indent="0" algn="ctr">
              <a:buNone/>
              <a:defRPr sz="1200"/>
            </a:lvl2pPr>
            <a:lvl3pPr marL="385200" indent="0" algn="ctr">
              <a:buNone/>
              <a:defRPr sz="1200"/>
            </a:lvl3pPr>
            <a:lvl4pPr marL="385200" indent="0" algn="ctr">
              <a:buNone/>
              <a:defRPr sz="1200"/>
            </a:lvl4pPr>
            <a:lvl5pPr marL="385200" indent="0" algn="ctr">
              <a:buNone/>
              <a:defRPr sz="1200"/>
            </a:lvl5pPr>
          </a:lstStyle>
          <a:p>
            <a:pPr lvl="0"/>
            <a:r>
              <a:rPr lang="en-GB" noProof="0" dirty="0"/>
              <a:t>Clinic, Centre, Business Division etc. (optional)</a:t>
            </a:r>
          </a:p>
        </p:txBody>
      </p:sp>
    </p:spTree>
    <p:extLst>
      <p:ext uri="{BB962C8B-B14F-4D97-AF65-F5344CB8AC3E}">
        <p14:creationId xmlns:p14="http://schemas.microsoft.com/office/powerpoint/2010/main" val="176157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0571E57-C458-55AD-34AF-B33955A2430E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A57A1D-B3B0-3969-AC3D-731633954FBC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8D16AE1-35A6-C2DD-949A-525C689812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93F957-EFA0-B9BA-15DE-03D8D486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1600" y="3427200"/>
            <a:ext cx="6063438" cy="2857712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48CA5AF-CEDE-3E1B-57D8-4973FFB367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8275" y="3431817"/>
            <a:ext cx="2574524" cy="391628"/>
          </a:xfrm>
          <a:solidFill>
            <a:schemeClr val="accent1"/>
          </a:solidFill>
        </p:spPr>
        <p:txBody>
          <a:bodyPr wrap="none" lIns="108000" tIns="72000" rIns="108000" bIns="72000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Section (1 line, max. 32 Char)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1402C4B-8E48-A60C-F353-2071129B4D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3999600"/>
            <a:ext cx="2034000" cy="228600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85200" indent="0" algn="ctr">
              <a:buNone/>
              <a:defRPr sz="1200"/>
            </a:lvl2pPr>
            <a:lvl3pPr marL="385200" indent="0" algn="ctr">
              <a:buNone/>
              <a:defRPr sz="1200"/>
            </a:lvl3pPr>
            <a:lvl4pPr marL="385200" indent="0" algn="ctr">
              <a:buNone/>
              <a:defRPr sz="1200"/>
            </a:lvl4pPr>
            <a:lvl5pPr marL="385200" indent="0" algn="ctr">
              <a:buNone/>
              <a:defRPr sz="1200"/>
            </a:lvl5pPr>
          </a:lstStyle>
          <a:p>
            <a:pPr lvl="0"/>
            <a:r>
              <a:rPr lang="en-GB" noProof="0" dirty="0"/>
              <a:t>Clinic, Centre, Business Division etc. (optional)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823D32A-F323-5163-FE79-469CF35E8F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52763" y="571498"/>
            <a:ext cx="8120062" cy="28575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225833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855FC450-CD34-DEE9-370E-65BEC309F95B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7A77F4-73B3-E7E5-A5F5-29BD29C11B5F}"/>
              </a:ext>
            </a:extLst>
          </p:cNvPr>
          <p:cNvSpPr/>
          <p:nvPr userDrawn="1"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BA88333-F35F-A682-4E4D-FF3A78AAFF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E102CB0-FCED-9F61-3872-C4A5486624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19650" y="571500"/>
            <a:ext cx="3052800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CD8D707-9637-3F2E-E607-A42376E448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2352" y="3426622"/>
            <a:ext cx="3024111" cy="2858290"/>
          </a:xfrm>
        </p:spPr>
        <p:txBody>
          <a:bodyPr anchor="ctr"/>
          <a:lstStyle>
            <a:lvl1pPr>
              <a:spcAft>
                <a:spcPts val="1200"/>
              </a:spcAf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noProof="0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D177B2F-68C9-2898-8703-A92B47DA6D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000" y="4000500"/>
            <a:ext cx="2034000" cy="228600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Clinic, Centre, Business Division etc. (optional)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394CD50-8748-4FB8-98A4-74F947B1D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8275" y="3431817"/>
            <a:ext cx="2574524" cy="391628"/>
          </a:xfrm>
          <a:solidFill>
            <a:schemeClr val="accent1"/>
          </a:solidFill>
        </p:spPr>
        <p:txBody>
          <a:bodyPr wrap="none" lIns="108000" tIns="72000" rIns="108000" bIns="72000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Section (1 line, max. 32 Char)</a:t>
            </a:r>
          </a:p>
        </p:txBody>
      </p:sp>
    </p:spTree>
    <p:extLst>
      <p:ext uri="{BB962C8B-B14F-4D97-AF65-F5344CB8AC3E}">
        <p14:creationId xmlns:p14="http://schemas.microsoft.com/office/powerpoint/2010/main" val="2284494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ECB30C2-EF93-3E6F-378A-1A690BDC7B33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2ABF63-E2BC-8509-C80F-4F329E0273CD}"/>
              </a:ext>
            </a:extLst>
          </p:cNvPr>
          <p:cNvSpPr/>
          <p:nvPr/>
        </p:nvSpPr>
        <p:spPr>
          <a:xfrm>
            <a:off x="3052799" y="571499"/>
            <a:ext cx="8120025" cy="5713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E7F0B71-AB37-1720-1B52-052F95B6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42" y="1117068"/>
            <a:ext cx="2299114" cy="12060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60F7D6-1489-B722-33B9-4CA3028AC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8063" y="571500"/>
            <a:ext cx="2035175" cy="5713412"/>
          </a:xfrm>
        </p:spPr>
        <p:txBody>
          <a:bodyPr anchor="ctr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15BF2A7-A61F-D256-E994-4C92580C3F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52799" y="571500"/>
            <a:ext cx="5065678" cy="5713413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1A0859E-A676-619D-977F-F2FD7F0E74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000" y="3998912"/>
            <a:ext cx="2034000" cy="228600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marL="385200" indent="0">
              <a:buNone/>
              <a:defRPr>
                <a:solidFill>
                  <a:schemeClr val="bg1"/>
                </a:solidFill>
              </a:defRPr>
            </a:lvl2pPr>
            <a:lvl3pPr marL="385200" indent="0">
              <a:buNone/>
              <a:defRPr>
                <a:solidFill>
                  <a:schemeClr val="bg1"/>
                </a:solidFill>
              </a:defRPr>
            </a:lvl3pPr>
            <a:lvl4pPr marL="385200" indent="0">
              <a:buNone/>
              <a:defRPr>
                <a:solidFill>
                  <a:schemeClr val="bg1"/>
                </a:solidFill>
              </a:defRPr>
            </a:lvl4pPr>
            <a:lvl5pPr marL="385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Clinic, Centre, Business Division etc. (optional)</a:t>
            </a:r>
          </a:p>
        </p:txBody>
      </p:sp>
    </p:spTree>
    <p:extLst>
      <p:ext uri="{BB962C8B-B14F-4D97-AF65-F5344CB8AC3E}">
        <p14:creationId xmlns:p14="http://schemas.microsoft.com/office/powerpoint/2010/main" val="423782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AC106-BDF8-CEF1-825B-31168B6AD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463" cy="4032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9C24AF-B323-63B9-86B5-95311227C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0FF830B-A89E-83C7-F82C-1285D4A79A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7587" y="1645284"/>
            <a:ext cx="10162800" cy="4064953"/>
          </a:xfrm>
        </p:spPr>
        <p:txBody>
          <a:bodyPr/>
          <a:lstStyle>
            <a:lvl1pPr marL="450000" indent="-450000">
              <a:spcAft>
                <a:spcPts val="300"/>
              </a:spcAft>
              <a:buFont typeface="+mj-lt"/>
              <a:buAutoNum type="arabicPeriod"/>
              <a:defRPr sz="28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 noProof="0" dirty="0"/>
              <a:t>Edit Master </a:t>
            </a:r>
            <a:r>
              <a:rPr lang="de-DE" noProof="0" dirty="0" err="1"/>
              <a:t>text</a:t>
            </a:r>
            <a:endParaRPr lang="de-DE" noProof="0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688E9D4-0B6A-B7EA-B556-04FDB5E33CC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7667763-4FCA-0EAC-9EC9-2D2373BD29E4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5E98871-4032-17EC-C264-14142C58E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7482" y="6307118"/>
            <a:ext cx="41148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48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/without picture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5EE0B59F-0FAC-80E7-32C9-883237D68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06250" y="0"/>
            <a:ext cx="508575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Image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BC21B9-442B-0912-1EE9-5FE643155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8" y="571500"/>
            <a:ext cx="5063738" cy="5713413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129527-14BD-A777-C594-8C13A0832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EE59A9-B79C-3969-3C29-CE75F90DE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585625E-3B01-AE03-E943-5A9E05062F4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2B39C79-EFB8-2529-AEEC-B828C9E388D6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13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number - blu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BBB59-C568-54F2-A825-AF50E3A6E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63" y="1143000"/>
            <a:ext cx="5076000" cy="4567238"/>
          </a:xfrm>
        </p:spPr>
        <p:txBody>
          <a:bodyPr anchor="ctr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9E999E-1123-5A84-ECEE-64199D8FD7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ADF842-CEC7-2322-A24D-3B4054F24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13041B-000C-8F57-1585-DD8DF10A23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DC96E62-9AC0-0025-4FCC-C7F0D58E0BAF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0F88E3C-5B38-45B1-089B-E1E0944D9D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350" y="1143000"/>
            <a:ext cx="2610000" cy="4567238"/>
          </a:xfrm>
        </p:spPr>
        <p:txBody>
          <a:bodyPr anchor="ctr"/>
          <a:lstStyle>
            <a:lvl1pPr marL="0" indent="0">
              <a:buNone/>
              <a:defRPr sz="20000">
                <a:solidFill>
                  <a:schemeClr val="accent1"/>
                </a:solidFill>
                <a:latin typeface="+mj-lt"/>
              </a:defRPr>
            </a:lvl1pPr>
            <a:lvl2pPr marL="385200" indent="0">
              <a:buNone/>
              <a:defRPr>
                <a:latin typeface="+mj-lt"/>
              </a:defRPr>
            </a:lvl2pPr>
            <a:lvl3pPr marL="385200" indent="0">
              <a:buNone/>
              <a:defRPr>
                <a:latin typeface="+mj-lt"/>
              </a:defRPr>
            </a:lvl3pPr>
            <a:lvl4pPr marL="385200" indent="0">
              <a:buNone/>
              <a:defRPr>
                <a:latin typeface="+mj-lt"/>
              </a:defRPr>
            </a:lvl4pPr>
            <a:lvl5pPr marL="3852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GB" noProof="0" dirty="0"/>
              <a:t>X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7049E99-3ED6-5B6D-20AF-21460F34F2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192048F-D09C-D13C-6F96-F9CC421FEE3F}"/>
              </a:ext>
            </a:extLst>
          </p:cNvPr>
          <p:cNvCxnSpPr/>
          <p:nvPr userDrawn="1"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530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/without picture - gre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D6B1EF7-ECF9-9550-1571-9474A39D476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06400" y="-1"/>
            <a:ext cx="5086800" cy="6858000"/>
          </a:xfrm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3B435A-F0F0-AAFB-0962-287FB85E7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72400"/>
            <a:ext cx="5065200" cy="5713200"/>
          </a:xfrm>
        </p:spPr>
        <p:txBody>
          <a:bodyPr anchor="ctr" anchorCtr="0"/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1A3048-6CA2-FE11-2BAD-29A0D740D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55697A-12F7-8A29-4803-AF33FA8F8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76258C0-1E6D-4F80-59BE-DE6DBDE760B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4D3E934-A56D-B0A0-0E43-1E93832657CB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4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number - grey 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913EB-0869-8FD7-818F-656297B8F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400" y="1144800"/>
            <a:ext cx="5076000" cy="4568400"/>
          </a:xfrm>
        </p:spPr>
        <p:txBody>
          <a:bodyPr anchor="ctr"/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7B67A2-DD47-6A0F-FE01-8B18655C6F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40F636-3411-DCFD-8E89-ED4AD0B6C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A42F60-AD05-FFA0-A537-C9FE91C84A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A283EBF-73AE-3B48-9E1D-066BAD3BB18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FF456E4-C710-EE0F-D3F1-B36709FBDC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800" y="1144800"/>
            <a:ext cx="2610000" cy="4568400"/>
          </a:xfrm>
        </p:spPr>
        <p:txBody>
          <a:bodyPr anchor="ctr"/>
          <a:lstStyle>
            <a:lvl1pPr marL="0" indent="0">
              <a:buNone/>
              <a:defRPr sz="20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1393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04313-9EBD-E2E8-85A4-8658C545F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463" cy="401256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635B3E-A170-D861-DC3E-F4A04609BD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79071E-0EC5-4614-9539-92CECCA887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881E07-D74B-F675-3F24-47FC0C82607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7999" y="1670400"/>
            <a:ext cx="101628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E9CBF8-FE5B-C246-9318-1600559A7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9587" y="924815"/>
            <a:ext cx="9136800" cy="246221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8BC7A22-A92A-8C27-21AE-A5239F58F0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D929626-B291-E201-0AE6-463AD95968F5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9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B8285-1706-99FE-D645-9A2B07024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6" y="500444"/>
            <a:ext cx="913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7D31DA-7307-1DFC-6137-0E1FDD72E5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4444CA-DD99-CF82-AB04-1386AEE9FD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CEB13E3-E4B9-2614-DCF4-B0F8730D7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94F8CC4-A959-4D54-7030-B1D1EA892874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E78F271-951E-29F3-CA6E-C1A7AE43396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8000" y="1670400"/>
            <a:ext cx="457365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B1BE3FB-D9B5-0621-7697-E410DA22E54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96062" y="1670400"/>
            <a:ext cx="45756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E6B3E14-3F88-EBCF-C508-95387CF449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200" y="925200"/>
            <a:ext cx="9136800" cy="244800"/>
          </a:xfrm>
        </p:spPr>
        <p:txBody>
          <a:bodyPr/>
          <a:lstStyle>
            <a:lvl1pPr marL="0" indent="0">
              <a:buFontTx/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noProof="0" dirty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203226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16" userDrawn="1">
          <p15:clr>
            <a:srgbClr val="FBAE40"/>
          </p15:clr>
        </p15:guide>
        <p15:guide id="4" pos="416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A6F73E-DFC4-17D0-E185-4862E18CC5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98ECDE-FBC7-5149-B631-0EBAED7FB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5" name="Untertitel">
            <a:extLst>
              <a:ext uri="{FF2B5EF4-FFF2-40B4-BE49-F238E27FC236}">
                <a16:creationId xmlns:a16="http://schemas.microsoft.com/office/drawing/2014/main" id="{5237F277-E0C0-66D9-AE88-3A6FD1CE04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noProof="0" dirty="0"/>
              <a:t>Subtitle (optional)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6AABEF3-8209-9E1E-0232-BBD06684FD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8000" y="1670400"/>
            <a:ext cx="2702716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346C2B8-C26F-81F0-727C-946A2609B0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0627" y="1670400"/>
            <a:ext cx="2703600" cy="4038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8C8072C-305B-3E46-CD43-19567F180AB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4550" y="1670400"/>
            <a:ext cx="2703600" cy="4038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GB" noProof="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3C1328C-169D-9D33-E81D-2257612635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0C107BD-C3C5-3F7E-46E4-5E2702D0C34C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el 22">
            <a:extLst>
              <a:ext uri="{FF2B5EF4-FFF2-40B4-BE49-F238E27FC236}">
                <a16:creationId xmlns:a16="http://schemas.microsoft.com/office/drawing/2014/main" id="{30BA5C45-3B5A-B10D-5444-C0DFDB518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4463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52" userDrawn="1">
          <p15:clr>
            <a:srgbClr val="FBAE40"/>
          </p15:clr>
        </p15:guide>
        <p15:guide id="6" pos="2986" userDrawn="1">
          <p15:clr>
            <a:srgbClr val="FBAE40"/>
          </p15:clr>
        </p15:guide>
        <p15:guide id="7" pos="4694" userDrawn="1">
          <p15:clr>
            <a:srgbClr val="FBAE40"/>
          </p15:clr>
        </p15:guide>
        <p15:guide id="8" pos="532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3D99F4B-FBED-6C79-35C8-70A2B587B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8" y="1720394"/>
            <a:ext cx="2035175" cy="153198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  <a:endParaRPr lang="en-GB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F46460-6CF7-6006-523C-248D69ECD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06EABD-6B34-08FC-A53A-31E4B75308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A39AC-B565-603B-F788-DF4DC1314F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B5EBF49-362C-41B2-D79E-BFFBDFC73B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7588" y="1720394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9F55F8BD-FFD6-5394-E2A2-0BBAB3A2A4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46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5AE3EF26-CF8A-C653-7EA5-B92FF0C2ED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904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4"/>
            <a:endParaRPr lang="en-GB" noProof="0" dirty="0"/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0BA58826-1951-E46E-DB68-3224162EB8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36062" y="1720394"/>
            <a:ext cx="2035175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C9D7961-FFD7-348F-902B-D93F952E5B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9FC299C-B82C-4B31-CB60-839938A8D8A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D0B3D105-9F14-D5A6-9933-9E01C366DE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8763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1927BA1-7742-0897-C6DF-95CF2964DB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22400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0BBC978F-E89F-793F-BB70-92CAA989D2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375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4AB36E7A-D7E8-0728-877B-8DD7CBFE9C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36062" y="3611592"/>
            <a:ext cx="2034000" cy="1533600"/>
          </a:xfrm>
        </p:spPr>
        <p:txBody>
          <a:bodyPr tIns="3384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B439D542-CA4B-FE32-E7A5-D2369E83D2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2400" y="1720394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57E9B3F6-6713-EEA1-85FC-9975854033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7588" y="3611592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FEB9A5F2-71F6-772D-EE5C-521091D5BC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29600" y="1720394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4EB44CED-85DA-2D20-B06D-675D398217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2400" y="3611592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5BD4ECCA-FC88-90CB-A5E0-6ABFE147CA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37650" y="1720394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8C09F7CA-2A66-6759-084E-9F600D9EBF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37650" y="3611592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E0BBB7F6-AF25-91C1-05CA-408BE7B0F8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29600" y="3611592"/>
            <a:ext cx="270000" cy="27000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  <a:latin typeface="Charité Text Office Medium" pitchFamily="2" charset="0"/>
              </a:defRPr>
            </a:lvl1pPr>
          </a:lstStyle>
          <a:p>
            <a:pPr lvl="0"/>
            <a:r>
              <a:rPr lang="en-GB" noProof="0" dirty="0"/>
              <a:t>X</a:t>
            </a:r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F20A98A4-7467-206D-E5B1-C72A2ED37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1200" y="925200"/>
            <a:ext cx="91368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385200" indent="0">
              <a:buNone/>
              <a:defRPr/>
            </a:lvl2pPr>
            <a:lvl3pPr marL="385200" indent="0">
              <a:buNone/>
              <a:defRPr/>
            </a:lvl3pPr>
            <a:lvl4pPr marL="385200" indent="0">
              <a:buNone/>
              <a:defRPr/>
            </a:lvl4pPr>
            <a:lvl5pPr marL="385200" indent="0">
              <a:buNone/>
              <a:defRPr/>
            </a:lvl5pPr>
          </a:lstStyle>
          <a:p>
            <a:pPr lvl="0"/>
            <a:r>
              <a:rPr lang="en-GB" noProof="0" dirty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249355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591" userDrawn="1">
          <p15:clr>
            <a:srgbClr val="FBAE40"/>
          </p15:clr>
        </p15:guide>
        <p15:guide id="10" orient="horz" pos="2275" userDrawn="1">
          <p15:clr>
            <a:srgbClr val="FBAE40"/>
          </p15:clr>
        </p15:guide>
        <p15:guide id="11" pos="1923" userDrawn="1">
          <p15:clr>
            <a:srgbClr val="FBAE40"/>
          </p15:clr>
        </p15:guide>
        <p15:guide id="12" pos="2345" userDrawn="1">
          <p15:clr>
            <a:srgbClr val="FBAE40"/>
          </p15:clr>
        </p15:guide>
        <p15:guide id="13" pos="3630" userDrawn="1">
          <p15:clr>
            <a:srgbClr val="FBAE40"/>
          </p15:clr>
        </p15:guide>
        <p15:guide id="14" pos="4050" userDrawn="1">
          <p15:clr>
            <a:srgbClr val="FBAE40"/>
          </p15:clr>
        </p15:guide>
        <p15:guide id="15" pos="5756" userDrawn="1">
          <p15:clr>
            <a:srgbClr val="FBAE40"/>
          </p15:clr>
        </p15:guide>
        <p15:guide id="16" pos="533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1F45816-AC38-941C-8642-361448D9E08E}"/>
              </a:ext>
            </a:extLst>
          </p:cNvPr>
          <p:cNvSpPr/>
          <p:nvPr/>
        </p:nvSpPr>
        <p:spPr>
          <a:xfrm>
            <a:off x="8127600" y="0"/>
            <a:ext cx="4064400" cy="514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sp>
        <p:nvSpPr>
          <p:cNvPr id="13" name="Bildunterschrift">
            <a:extLst>
              <a:ext uri="{FF2B5EF4-FFF2-40B4-BE49-F238E27FC236}">
                <a16:creationId xmlns:a16="http://schemas.microsoft.com/office/drawing/2014/main" id="{A415EF6E-0026-A754-49CA-E277E90E34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413" y="5709600"/>
            <a:ext cx="3816000" cy="579600"/>
          </a:xfrm>
        </p:spPr>
        <p:txBody>
          <a:bodyPr tIns="72000"/>
          <a:lstStyle>
            <a:lvl1pPr marL="0" indent="0">
              <a:buFontTx/>
              <a:buNone/>
              <a:defRPr sz="1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noProof="0" dirty="0"/>
              <a:t>Caption and/or source (optional)</a:t>
            </a:r>
          </a:p>
        </p:txBody>
      </p:sp>
      <p:sp>
        <p:nvSpPr>
          <p:cNvPr id="9" name="Untertitel">
            <a:extLst>
              <a:ext uri="{FF2B5EF4-FFF2-40B4-BE49-F238E27FC236}">
                <a16:creationId xmlns:a16="http://schemas.microsoft.com/office/drawing/2014/main" id="{A1CC353C-CB5B-30D8-8C25-FE71F3BEAF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587" y="925200"/>
            <a:ext cx="55980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3pPr>
            <a:lvl4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4pPr>
            <a:lvl5pPr marL="385200" indent="0">
              <a:buNone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noProof="0" dirty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932425-FEBD-9789-5D35-A94FCAD78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5598000" cy="403200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EF71FA-D2BD-AA21-68DB-C161FFF154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3FB9AE-9E6D-2D5B-59DC-A0CD80BD52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EE1888-55D2-A2C1-B138-27E69663AEC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DCBEDA2-04EF-A8FD-969E-7871337F52A1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5D49E70-CD68-24B1-5CE4-D810BC6BB8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8000" y="1670400"/>
            <a:ext cx="50976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CAACDC9-B304-1159-0AA3-F82B78F83F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10000" y="572400"/>
            <a:ext cx="40644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071818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unterschrift">
            <a:extLst>
              <a:ext uri="{FF2B5EF4-FFF2-40B4-BE49-F238E27FC236}">
                <a16:creationId xmlns:a16="http://schemas.microsoft.com/office/drawing/2014/main" id="{B83F5A42-09F3-8AF1-5DD8-4CEFA09823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8825" y="5709600"/>
            <a:ext cx="3816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noProof="0" dirty="0"/>
              <a:t>Caption and/or source (optional)</a:t>
            </a:r>
          </a:p>
        </p:txBody>
      </p:sp>
      <p:sp>
        <p:nvSpPr>
          <p:cNvPr id="12" name="Untertitel">
            <a:extLst>
              <a:ext uri="{FF2B5EF4-FFF2-40B4-BE49-F238E27FC236}">
                <a16:creationId xmlns:a16="http://schemas.microsoft.com/office/drawing/2014/main" id="{039E2D46-444D-DEB7-16B4-8DD4289BC4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9588" y="925200"/>
            <a:ext cx="55980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2BF8A9-19BC-0FA9-FD6D-BF956E374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6" y="500444"/>
            <a:ext cx="5596425" cy="403200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F326468-83EB-EE59-6697-DF5117A80D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4DFD21-7A1F-0463-AB52-625787D59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844017-E78D-22D5-CE5A-4028FC42F2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A8359DE-EBE8-12FF-4096-36F458DFC4B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46483FB-B1C7-609E-6E6D-11D1D6269B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7999" y="1670400"/>
            <a:ext cx="5098013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5468F84-C774-202E-E2EB-B60A78E28728}"/>
              </a:ext>
            </a:extLst>
          </p:cNvPr>
          <p:cNvSpPr/>
          <p:nvPr/>
        </p:nvSpPr>
        <p:spPr>
          <a:xfrm>
            <a:off x="8127600" y="0"/>
            <a:ext cx="4064400" cy="51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CD094CC-FBA3-BAEB-D00B-1BECF6056F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8425" y="573676"/>
            <a:ext cx="40644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98134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2ECBB58-4B6E-4F5D-18E3-352178B5F108}"/>
              </a:ext>
            </a:extLst>
          </p:cNvPr>
          <p:cNvSpPr/>
          <p:nvPr/>
        </p:nvSpPr>
        <p:spPr>
          <a:xfrm>
            <a:off x="0" y="0"/>
            <a:ext cx="5083200" cy="5140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sp>
        <p:nvSpPr>
          <p:cNvPr id="19" name="Bildunterschrift">
            <a:extLst>
              <a:ext uri="{FF2B5EF4-FFF2-40B4-BE49-F238E27FC236}">
                <a16:creationId xmlns:a16="http://schemas.microsoft.com/office/drawing/2014/main" id="{25DFDAC6-8A5B-9471-0A9F-54B22B6816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8800" y="5709600"/>
            <a:ext cx="3816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Caption and/or source (optional)</a:t>
            </a:r>
          </a:p>
        </p:txBody>
      </p:sp>
      <p:sp>
        <p:nvSpPr>
          <p:cNvPr id="15" name="Untertitel">
            <a:extLst>
              <a:ext uri="{FF2B5EF4-FFF2-40B4-BE49-F238E27FC236}">
                <a16:creationId xmlns:a16="http://schemas.microsoft.com/office/drawing/2014/main" id="{89A7CE53-8F11-FE8E-6DDD-F7618B9749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8349" y="925200"/>
            <a:ext cx="40608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359A7-1149-422C-69A8-37AE8B162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376" y="500444"/>
            <a:ext cx="4060800" cy="403200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B2039F-5508-D28A-543C-318285DDF4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F4D526-92AA-2696-9886-0A80AC27D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020E028-2D70-DDC8-A75B-AFC9FF0ECAC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6445B0F-D593-F908-CA3C-D9D7F1902A30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0A3D4C-8535-BE52-9416-AA35328A26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569913"/>
            <a:ext cx="5083200" cy="5140325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93E7FA6-31E7-59EE-A999-F09A5C8CBD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8349" y="1670400"/>
            <a:ext cx="40608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973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8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unterschrift">
            <a:extLst>
              <a:ext uri="{FF2B5EF4-FFF2-40B4-BE49-F238E27FC236}">
                <a16:creationId xmlns:a16="http://schemas.microsoft.com/office/drawing/2014/main" id="{6530243A-A0D6-B4C6-7331-2AE3B9106A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588" y="5709600"/>
            <a:ext cx="3816000" cy="579600"/>
          </a:xfrm>
        </p:spPr>
        <p:txBody>
          <a:bodyPr tIns="72000"/>
          <a:lstStyle>
            <a:lvl1pPr marL="0" indent="0">
              <a:buFontTx/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Caption and/or source (optional)</a:t>
            </a:r>
          </a:p>
        </p:txBody>
      </p:sp>
      <p:sp>
        <p:nvSpPr>
          <p:cNvPr id="14" name="Untertitel">
            <a:extLst>
              <a:ext uri="{FF2B5EF4-FFF2-40B4-BE49-F238E27FC236}">
                <a16:creationId xmlns:a16="http://schemas.microsoft.com/office/drawing/2014/main" id="{1B023507-4C12-465C-5B67-55E082CDAA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6763" y="925200"/>
            <a:ext cx="4060800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1C227B-9DE1-2AA8-305F-F16000F2C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7200" y="500444"/>
            <a:ext cx="4060800" cy="403200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A31609-6C29-2EE0-85D3-7779176E4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595691-1C8C-3479-AE37-1A310B8D8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D1A4FE-7E6F-90B9-EAD8-684C0501EF8B}"/>
              </a:ext>
            </a:extLst>
          </p:cNvPr>
          <p:cNvSpPr/>
          <p:nvPr/>
        </p:nvSpPr>
        <p:spPr>
          <a:xfrm>
            <a:off x="0" y="0"/>
            <a:ext cx="5083200" cy="51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084715E-A26A-780C-58EF-A05AC37998B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BE0523F-0317-1C66-75A2-1378C1883750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67AFAC5-E98C-D72F-C6F7-99426887E8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568800"/>
            <a:ext cx="5083200" cy="51408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1A18C4E-E9A0-5EC2-6917-6E116013FB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6763" y="1670400"/>
            <a:ext cx="4060800" cy="4039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16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8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Picture with text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0D5BF-3468-766C-3E90-FB1A153A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5F5D32-A15D-3AAE-C668-2E1E1314CC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01B3C6-DBC5-650E-5FB0-23AF99A000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A61836-94D7-E50E-9EA4-B37A1539491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091E40B-CC10-5C7D-4E7E-B3B286DDC7D8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0755A324-2C07-E9DE-7C47-9D8A4E94468B}"/>
              </a:ext>
            </a:extLst>
          </p:cNvPr>
          <p:cNvSpPr/>
          <p:nvPr/>
        </p:nvSpPr>
        <p:spPr>
          <a:xfrm>
            <a:off x="0" y="2855438"/>
            <a:ext cx="12192000" cy="285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7297243-B4C9-835C-E79E-1D8C330F66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17136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9BD6CE4-05EB-0F7B-1287-47FFE26DB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5450" y="17136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EE08FEE-65AA-E28D-7EB6-D029D22C8F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7588" y="3998913"/>
            <a:ext cx="4064000" cy="1710000"/>
          </a:xfrm>
        </p:spPr>
        <p:txBody>
          <a:bodyPr tIns="252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95F1686-D325-2423-FADF-0BAF4FD75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5650" y="3998913"/>
            <a:ext cx="4064000" cy="1710000"/>
          </a:xfrm>
        </p:spPr>
        <p:txBody>
          <a:bodyPr tIns="252000" bIns="14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5A56BAE-7B11-AC1C-3E73-01405A2D2F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31200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204" userDrawn="1">
          <p15:clr>
            <a:srgbClr val="FBAE40"/>
          </p15:clr>
        </p15:guide>
        <p15:guide id="4" pos="447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Picture with tex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B95AC-787E-6570-9EBA-924258A1D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800" cy="403200"/>
          </a:xfrm>
        </p:spPr>
        <p:txBody>
          <a:bodyPr/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0147418-A1B9-1522-B5DD-23600759D8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9F59FB-6202-5E64-A2B0-EB61D68F5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100A0F-82DE-2E25-04E4-6D053E95B42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B5FAE4B-A6D4-085D-6A3E-98BD8F7168E9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F26FF4B2-E32A-687D-93AC-BF8340CE86C6}"/>
              </a:ext>
            </a:extLst>
          </p:cNvPr>
          <p:cNvSpPr/>
          <p:nvPr/>
        </p:nvSpPr>
        <p:spPr>
          <a:xfrm>
            <a:off x="0" y="2855438"/>
            <a:ext cx="12192000" cy="285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noProof="0" dirty="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9DB8161-E57B-D485-9EF0-C746E1D1EE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17588" y="17145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77ED89A1-EDBC-802D-3495-BE63017FA4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06839" y="1714500"/>
            <a:ext cx="4064400" cy="2286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noProof="0" dirty="0"/>
              <a:t>Insert Image here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3E6423B-C2C1-C316-7151-5D81468FEE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7588" y="4000369"/>
            <a:ext cx="4064000" cy="1709738"/>
          </a:xfrm>
        </p:spPr>
        <p:txBody>
          <a:bodyPr tIns="252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45A965B-A019-AA22-2301-6A2C1C363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07238" y="4000369"/>
            <a:ext cx="4065587" cy="1710000"/>
          </a:xfrm>
        </p:spPr>
        <p:txBody>
          <a:bodyPr tIns="252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228712D-955C-CC61-9526-1E97E44BDA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200" y="925200"/>
            <a:ext cx="9136063" cy="2448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142790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476" userDrawn="1">
          <p15:clr>
            <a:srgbClr val="FBAE40"/>
          </p15:clr>
        </p15:guide>
        <p15:guide id="4" pos="320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screen dark - tex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ED52C9D-87C8-011B-E56D-51D5C50B39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Here you can insert a large picture. </a:t>
            </a:r>
            <a:br>
              <a:rPr lang="en-GB" noProof="0" dirty="0"/>
            </a:br>
            <a:r>
              <a:rPr lang="en-GB" noProof="0" dirty="0"/>
              <a:t>Please pay attention that the colour contrast is sufficient, especially that the logo and footer are readable.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41DB3A-6DE5-F033-FEE8-41F3896BC3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Optional: Clinic, Centre, Business Division etc.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63763-DE9D-6D38-AC3B-4B4CC07EC0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CB682A-2009-9235-F971-D6E915E4E6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F581E7A-B35D-5EC1-B852-434FA1E7DC2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686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screen light - tex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BBA00DF-2000-4C26-A9C5-C7DCDBB9F8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Here you can insert a large picture. </a:t>
            </a:r>
            <a:br>
              <a:rPr lang="en-GB" noProof="0" dirty="0"/>
            </a:br>
            <a:r>
              <a:rPr lang="en-GB" noProof="0" dirty="0"/>
              <a:t>Please pay attention that the colour contrast is sufficient, especially that the logo and footer are readable.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DBC79A-7CBB-10CE-2C3C-FD05E64850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46FDE8-A2B6-316B-1469-0EEC7555C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4A8951-1200-D0E7-5F8E-2C10B57D758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5938C14-2DEC-82A2-7695-24571C7D5D8E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826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text 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027018-D557-3C79-D1EA-D1294A0AD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FCA897-0E45-4EFB-1E77-AEBED04C2B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D94C2AB-ECEC-E542-B222-D9C6BD9A43D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B46E80D-8C7E-12BE-E6D4-002699C55689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826F5AFC-CA37-5E0B-FCB1-E613AB3E5F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5969" y="1723680"/>
            <a:ext cx="478534" cy="349200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D2C1F7-0409-E8C8-F128-0615B1F22D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5969" y="1714500"/>
            <a:ext cx="8120062" cy="3995737"/>
          </a:xfrm>
        </p:spPr>
        <p:txBody>
          <a:bodyPr tIns="576000" rIns="0" anchor="t"/>
          <a:lstStyle>
            <a:lvl1pPr marL="0" indent="0">
              <a:spcAft>
                <a:spcPts val="2200"/>
              </a:spcAft>
              <a:buNone/>
              <a:defRPr sz="3200"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en-GB" noProof="0" dirty="0"/>
              <a:t>A quotation. (max. 200 characters)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9683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662" userDrawn="1">
          <p15:clr>
            <a:srgbClr val="FBAE40"/>
          </p15:clr>
        </p15:guide>
        <p15:guide id="5" pos="1282" userDrawn="1">
          <p15:clr>
            <a:srgbClr val="FBAE40"/>
          </p15:clr>
        </p15:guide>
        <p15:guide id="6" pos="639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EC8225-D3C6-D2CF-36B3-EDB4A6C840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9C7943-986D-598F-5ABF-0796079E1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F5EF10FB-FF64-F494-0F12-214A17E74D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8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  <a:lvl2pPr>
              <a:defRPr sz="1000">
                <a:solidFill>
                  <a:schemeClr val="tx2"/>
                </a:solidFill>
              </a:defRPr>
            </a:lvl2pPr>
            <a:lvl3pPr>
              <a:defRPr sz="100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Caption and/or source (optional) 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9A610B8F-52F5-CF16-D4FA-31837E4AB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4800" y="17145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 dirty="0"/>
              <a:t>Edit Mater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507D0E9-6FBC-33E2-267F-7C3A99A5353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CB66DCF-A25C-6162-B9A7-4F80B9BB1B76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60A537C2-A37C-32D3-0B21-5CAD494B5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80238563-4251-CCDC-2832-70054B412A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82934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gre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B2F91D-8241-4D3C-C26B-A83C3C6522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F42F20-F06C-0343-0BB9-FEA75E9F5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3E89E347-2C1B-858E-9984-451FF1694B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8800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Caption and/or source (optional) 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C1D4E14F-DCC6-FF5E-8F43-2EA345A037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17136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tx2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 dirty="0"/>
              <a:t>Edit Mater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F1BAF51-5DF7-97FD-EDE4-EC34051DCF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C00BC6E-95B8-88CD-5F8E-3CC20B06E5C3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BDFF4DC6-07C7-1045-F431-5EC8EDE8C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83B521FA-D1BF-CDE7-CD6D-E751D5FA5B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51946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icture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E471F9-D6D3-0FAE-0195-B99091D212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7DE233-0890-3C93-8D23-0FC49F53F7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Bildunterschrift links">
            <a:extLst>
              <a:ext uri="{FF2B5EF4-FFF2-40B4-BE49-F238E27FC236}">
                <a16:creationId xmlns:a16="http://schemas.microsoft.com/office/drawing/2014/main" id="{81389CBD-C4DC-2153-941A-05FA4F502E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7587" y="4568400"/>
            <a:ext cx="4464000" cy="579600"/>
          </a:xfrm>
        </p:spPr>
        <p:txBody>
          <a:bodyPr tIns="7200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385200" indent="0">
              <a:buNone/>
              <a:defRPr sz="1000">
                <a:solidFill>
                  <a:schemeClr val="bg1"/>
                </a:solidFill>
              </a:defRPr>
            </a:lvl2pPr>
            <a:lvl3pPr marL="385200" indent="0">
              <a:buNone/>
              <a:defRPr sz="1000">
                <a:solidFill>
                  <a:schemeClr val="bg1"/>
                </a:solidFill>
              </a:defRPr>
            </a:lvl3pPr>
            <a:lvl4pPr marL="385200" indent="0">
              <a:buNone/>
              <a:defRPr sz="1000">
                <a:solidFill>
                  <a:schemeClr val="bg1"/>
                </a:solidFill>
              </a:defRPr>
            </a:lvl4pPr>
            <a:lvl5pPr marL="3852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Caption and/or source (optional)</a:t>
            </a:r>
          </a:p>
        </p:txBody>
      </p:sp>
      <p:sp>
        <p:nvSpPr>
          <p:cNvPr id="6" name="Zitat rechts">
            <a:extLst>
              <a:ext uri="{FF2B5EF4-FFF2-40B4-BE49-F238E27FC236}">
                <a16:creationId xmlns:a16="http://schemas.microsoft.com/office/drawing/2014/main" id="{09A741AB-DDB3-E465-B84E-7E5FCC563D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1714500"/>
            <a:ext cx="5076000" cy="4572000"/>
          </a:xfrm>
        </p:spPr>
        <p:txBody>
          <a:bodyPr tIns="576000"/>
          <a:lstStyle>
            <a:lvl1pPr marL="0" indent="0">
              <a:spcAft>
                <a:spcPts val="2200"/>
              </a:spcAft>
              <a:buNone/>
              <a:defRPr sz="3200">
                <a:solidFill>
                  <a:schemeClr val="bg1"/>
                </a:solidFill>
                <a:latin typeface="Charité Headline Office Light" pitchFamily="2" charset="0"/>
              </a:defRPr>
            </a:lvl1pPr>
            <a:lvl2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2pPr>
            <a:lvl3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3pPr>
            <a:lvl4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4pPr>
            <a:lvl5pPr marL="0" indent="0">
              <a:buNone/>
              <a:defRPr sz="2000">
                <a:solidFill>
                  <a:schemeClr val="bg1"/>
                </a:solidFill>
                <a:latin typeface="Charité Headline Office Light" pitchFamily="2" charset="0"/>
              </a:defRPr>
            </a:lvl5pPr>
          </a:lstStyle>
          <a:p>
            <a:pPr lvl="0"/>
            <a:r>
              <a:rPr lang="de-DE" noProof="0" dirty="0"/>
              <a:t>Edit Mater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1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16928C1-93F3-55BA-09E6-176D312911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0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0BD22A1-6E28-2916-D633-DFA8E06A2222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16AF9A60-7CB2-553B-D1C0-A2AA28E58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9734" y="1723680"/>
            <a:ext cx="478534" cy="349200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EFDDC698-A9C4-96B3-CCB5-572D335078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4800" cy="4568400"/>
          </a:xfrm>
          <a:custGeom>
            <a:avLst/>
            <a:gdLst>
              <a:gd name="connsiteX0" fmla="*/ 0 w 6094800"/>
              <a:gd name="connsiteY0" fmla="*/ 0 h 4568400"/>
              <a:gd name="connsiteX1" fmla="*/ 6094800 w 6094800"/>
              <a:gd name="connsiteY1" fmla="*/ 0 h 4568400"/>
              <a:gd name="connsiteX2" fmla="*/ 6094800 w 6094800"/>
              <a:gd name="connsiteY2" fmla="*/ 1145905 h 4568400"/>
              <a:gd name="connsiteX3" fmla="*/ 5588461 w 6094800"/>
              <a:gd name="connsiteY3" fmla="*/ 1145905 h 4568400"/>
              <a:gd name="connsiteX4" fmla="*/ 5588461 w 6094800"/>
              <a:gd name="connsiteY4" fmla="*/ 4568400 h 4568400"/>
              <a:gd name="connsiteX5" fmla="*/ 0 w 6094800"/>
              <a:gd name="connsiteY5" fmla="*/ 4568400 h 45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4800" h="4568400">
                <a:moveTo>
                  <a:pt x="0" y="0"/>
                </a:moveTo>
                <a:lnTo>
                  <a:pt x="6094800" y="0"/>
                </a:lnTo>
                <a:lnTo>
                  <a:pt x="6094800" y="1145905"/>
                </a:lnTo>
                <a:lnTo>
                  <a:pt x="5588461" y="1145905"/>
                </a:lnTo>
                <a:lnTo>
                  <a:pt x="5588461" y="4568400"/>
                </a:lnTo>
                <a:lnTo>
                  <a:pt x="0" y="45684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GB" noProof="0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818557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4AA9-04B0-AE4F-13DB-3A460177E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87" y="500444"/>
            <a:ext cx="9136463" cy="430887"/>
          </a:xfrm>
        </p:spPr>
        <p:txBody>
          <a:bodyPr>
            <a:noAutofit/>
          </a:bodyPr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6CCC65-D01A-D53B-C4CF-41199E8BC3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4FAAF-D2FB-F3B8-D7AC-023718855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DD1D29-CC10-0823-A03C-3201D85697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7181" y="6184800"/>
            <a:ext cx="925200" cy="48535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8DEE0A-8885-8A93-BA9E-31F3F31BF967}"/>
              </a:ext>
            </a:extLst>
          </p:cNvPr>
          <p:cNvCxnSpPr/>
          <p:nvPr/>
        </p:nvCxnSpPr>
        <p:spPr>
          <a:xfrm>
            <a:off x="1519200" y="6278400"/>
            <a:ext cx="0" cy="28080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4E9EF90-76A7-EF76-AD7B-1001EEA78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9588" y="925200"/>
            <a:ext cx="9136062" cy="2448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1046904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519" userDrawn="1">
          <p15:clr>
            <a:srgbClr val="FBAE40"/>
          </p15:clr>
        </p15:guide>
        <p15:guide id="8" pos="4158" userDrawn="1">
          <p15:clr>
            <a:srgbClr val="FBAE40"/>
          </p15:clr>
        </p15:guide>
        <p15:guide id="9" pos="2559" userDrawn="1">
          <p15:clr>
            <a:srgbClr val="FBAE40"/>
          </p15:clr>
        </p15:guide>
        <p15:guide id="10" pos="2880" userDrawn="1">
          <p15:clr>
            <a:srgbClr val="FBAE40"/>
          </p15:clr>
        </p15:guide>
        <p15:guide id="11" pos="4800" userDrawn="1">
          <p15:clr>
            <a:srgbClr val="FBAE40"/>
          </p15:clr>
        </p15:guide>
        <p15:guide id="12" pos="512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33E9F-246A-3950-07DD-35A1C54B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7" y="500444"/>
            <a:ext cx="9136463" cy="403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Edit </a:t>
            </a:r>
            <a:r>
              <a:rPr lang="en-GB" dirty="0"/>
              <a:t>Headline</a:t>
            </a:r>
            <a:endParaRPr lang="en-GB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E2EBD-5537-B338-9CF2-90BF2C07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857" y="1671208"/>
            <a:ext cx="10163968" cy="4039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Edit Master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98871-4032-17EC-C264-14142C58E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7482" y="6307118"/>
            <a:ext cx="41148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Optional: </a:t>
            </a:r>
            <a:r>
              <a:rPr lang="en-US" dirty="0"/>
              <a:t>Department, Clinic, Center, Business Division, etc.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6978B-5C2C-8DFA-E992-1FFC3EBAB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1596" y="6307200"/>
            <a:ext cx="27432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accent5"/>
                </a:solidFill>
              </a:defRPr>
            </a:lvl1pPr>
          </a:lstStyle>
          <a:p>
            <a:fld id="{3A9C953F-34B1-4DD2-A3DB-3A35190EAD1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7534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83200" indent="-198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Charité Text Office" pitchFamily="2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0" pos="320" userDrawn="1">
          <p15:clr>
            <a:srgbClr val="F26B43"/>
          </p15:clr>
        </p15:guide>
        <p15:guide id="21" orient="horz" pos="360" userDrawn="1">
          <p15:clr>
            <a:srgbClr val="F26B43"/>
          </p15:clr>
        </p15:guide>
        <p15:guide id="22" pos="641" userDrawn="1">
          <p15:clr>
            <a:srgbClr val="F26B43"/>
          </p15:clr>
        </p15:guide>
        <p15:guide id="23" pos="7038" userDrawn="1">
          <p15:clr>
            <a:srgbClr val="F26B43"/>
          </p15:clr>
        </p15:guide>
        <p15:guide id="24" orient="horz" pos="3597" userDrawn="1">
          <p15:clr>
            <a:srgbClr val="F26B43"/>
          </p15:clr>
        </p15:guide>
        <p15:guide id="25" orient="horz" pos="1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kunst.com/highcharter/" TargetMode="External"/><Relationship Id="rId2" Type="http://schemas.openxmlformats.org/officeDocument/2006/relationships/hyperlink" Target="https://plotly.com/r/getting-started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056A66FA-0392-54A9-7CBF-8B01F93C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352" y="3426622"/>
            <a:ext cx="3737429" cy="285829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Introduction to {shiny} dashboards</a:t>
            </a:r>
            <a:br>
              <a:rPr lang="en-GB" dirty="0"/>
            </a:br>
            <a:br>
              <a:rPr lang="en-GB" sz="900" dirty="0"/>
            </a:br>
            <a:r>
              <a:rPr lang="fr-FR" sz="1400" dirty="0">
                <a:latin typeface="+mn-lt"/>
              </a:rPr>
              <a:t>Hugo </a:t>
            </a:r>
            <a:r>
              <a:rPr lang="fr-FR" sz="1400" dirty="0" err="1">
                <a:latin typeface="+mn-lt"/>
              </a:rPr>
              <a:t>Soubrier</a:t>
            </a:r>
            <a:r>
              <a:rPr lang="fr-FR" sz="1400" dirty="0">
                <a:latin typeface="+mn-lt"/>
              </a:rPr>
              <a:t> </a:t>
            </a: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| February 10</a:t>
            </a:r>
            <a:r>
              <a:rPr kumimoji="0" lang="en-US" sz="1400" b="0" i="0" u="none" strike="noStrike" kern="1200" cap="none" spc="0" normalizeH="0" baseline="30000" dirty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th</a:t>
            </a: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Charité Text Office"/>
                <a:ea typeface="+mj-ea"/>
                <a:cs typeface="+mj-cs"/>
              </a:rPr>
              <a:t>, 2026 | Charité Mitte</a:t>
            </a:r>
            <a:endParaRPr lang="en-GB" sz="1600" dirty="0">
              <a:latin typeface="+mn-lt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AA06F5-3910-9580-221C-92049A8B14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Infectious Disease Dynamics (IDD)</a:t>
            </a:r>
          </a:p>
          <a:p>
            <a:r>
              <a:rPr lang="en-US" dirty="0"/>
              <a:t>Charité Center for Global Health (CCGH)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88186F2-0ACA-A907-0EC2-2A42ED75D5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8275" y="3431817"/>
            <a:ext cx="1611119" cy="391628"/>
          </a:xfrm>
        </p:spPr>
        <p:txBody>
          <a:bodyPr/>
          <a:lstStyle/>
          <a:p>
            <a:r>
              <a:rPr lang="en-GB" dirty="0"/>
              <a:t>B-IDDE workshop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E3B18-9583-870C-CC69-0EFDE0639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746" y="2855396"/>
            <a:ext cx="4225079" cy="237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28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C51F0-7149-F157-E3D7-D0DEFF4B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Workshop Agenda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8F434B-88D4-3DAD-A8E7-BD58F3C078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14600" y="1572864"/>
            <a:ext cx="10162800" cy="4064953"/>
          </a:xfrm>
        </p:spPr>
        <p:txBody>
          <a:bodyPr/>
          <a:lstStyle/>
          <a:p>
            <a:r>
              <a:rPr lang="en-GB" dirty="0"/>
              <a:t>Quick presentation (10min)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Visualisation in R using {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ggplot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Interactivity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Shiny package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Core of Shiny dashboard</a:t>
            </a:r>
          </a:p>
          <a:p>
            <a:r>
              <a:rPr lang="en-GB" dirty="0"/>
              <a:t>Quick demo (5min)</a:t>
            </a:r>
          </a:p>
          <a:p>
            <a:r>
              <a:rPr lang="en-GB" dirty="0"/>
              <a:t>Self pace tutorial (1h30)</a:t>
            </a:r>
          </a:p>
          <a:p>
            <a:r>
              <a:rPr lang="en-GB" dirty="0"/>
              <a:t>Wrap-up (15min)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44105D9-9053-13EE-5CF0-6661D8733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ECFB932-3B0D-CB8D-21F0-3EB0E5F45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47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311E3B-57B9-98B2-F65E-2588FFEB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563" y="1143000"/>
            <a:ext cx="5076000" cy="4567238"/>
          </a:xfrm>
        </p:spPr>
        <p:txBody>
          <a:bodyPr/>
          <a:lstStyle/>
          <a:p>
            <a:r>
              <a:rPr lang="en-GB" dirty="0"/>
              <a:t>R {shiny} dashboards (10min)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4E0F57B-7AC7-3777-B46F-828BCF0785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1740-33FE-2D60-1031-FCC1FF0385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B2CC2-60AA-8926-7D99-0AA052046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69D36-D116-A280-FFAD-8873C0770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73" y="2018884"/>
            <a:ext cx="5002430" cy="28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CC5B824-AFDB-B024-7C45-EF2AB91433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6742" y="5171821"/>
            <a:ext cx="3816000" cy="5796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Weekly incidence of epidemiologically linked cases on the 10th EVD outbreak in DRC | </a:t>
            </a:r>
            <a:r>
              <a:rPr lang="en-GB" i="1" dirty="0">
                <a:solidFill>
                  <a:schemeClr val="tx2"/>
                </a:solidFill>
              </a:rPr>
              <a:t>Hugo </a:t>
            </a:r>
            <a:r>
              <a:rPr lang="en-GB" i="1" dirty="0" err="1">
                <a:solidFill>
                  <a:schemeClr val="tx2"/>
                </a:solidFill>
              </a:rPr>
              <a:t>Soubrier</a:t>
            </a:r>
            <a:endParaRPr lang="en-GB" i="1" dirty="0">
              <a:solidFill>
                <a:schemeClr val="tx2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26FECE-E553-1D30-A142-7721FE9E9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9587" y="925200"/>
            <a:ext cx="7334699" cy="244800"/>
          </a:xfrm>
        </p:spPr>
        <p:txBody>
          <a:bodyPr/>
          <a:lstStyle/>
          <a:p>
            <a:r>
              <a:rPr lang="en-GB" dirty="0"/>
              <a:t>R has a rich ecosystem for high‑quality but mostly static plots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46C4FCE-8AA1-EDDF-31FA-085A2E82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visualisation (static)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A1EC364-7D50-28B1-704C-30A1B6ABD9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966A435-F6D1-F1B9-4DBE-00E238919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C76E6F5-3120-EC21-96F1-29B208A493D7}"/>
              </a:ext>
            </a:extLst>
          </p:cNvPr>
          <p:cNvSpPr txBox="1">
            <a:spLocks/>
          </p:cNvSpPr>
          <p:nvPr/>
        </p:nvSpPr>
        <p:spPr>
          <a:xfrm>
            <a:off x="509585" y="1564098"/>
            <a:ext cx="6138505" cy="278105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b="1" dirty="0"/>
              <a:t>R has many plotting systems: </a:t>
            </a:r>
            <a:r>
              <a:rPr lang="en-GB" dirty="0"/>
              <a:t>base graphics, ggplot2, lattice, and many extensions (e.g. </a:t>
            </a:r>
            <a:r>
              <a:rPr lang="en-GB" dirty="0" err="1"/>
              <a:t>cowplot</a:t>
            </a:r>
            <a:r>
              <a:rPr lang="en-GB" dirty="0"/>
              <a:t>, patchwork, </a:t>
            </a:r>
            <a:r>
              <a:rPr lang="en-GB" dirty="0" err="1"/>
              <a:t>gganimate</a:t>
            </a:r>
            <a:r>
              <a:rPr lang="en-GB" dirty="0"/>
              <a:t>, etc.).</a:t>
            </a:r>
          </a:p>
          <a:p>
            <a:pPr algn="just"/>
            <a:r>
              <a:rPr lang="en-GB" b="1" dirty="0"/>
              <a:t>ggplot2</a:t>
            </a:r>
            <a:r>
              <a:rPr lang="en-GB" dirty="0"/>
              <a:t> implements the Grammar of Graphics: you build plots by layering data, aesthetics, and </a:t>
            </a:r>
            <a:r>
              <a:rPr lang="en-GB" dirty="0" err="1"/>
              <a:t>geoms</a:t>
            </a:r>
            <a:r>
              <a:rPr lang="en-GB" dirty="0"/>
              <a:t>. These plots can be very extensive, detailed and high quality.</a:t>
            </a:r>
          </a:p>
          <a:p>
            <a:pPr algn="just"/>
            <a:r>
              <a:rPr lang="en-GB" b="1" dirty="0"/>
              <a:t>Strengths: </a:t>
            </a:r>
            <a:r>
              <a:rPr lang="en-GB" dirty="0"/>
              <a:t>publication‑quality output, reproducible code, theming and faceting, easy integration with R Markdown/Quarto.</a:t>
            </a:r>
          </a:p>
          <a:p>
            <a:pPr algn="just"/>
            <a:r>
              <a:rPr lang="en-GB" b="1" dirty="0"/>
              <a:t>Author-driven messaging: </a:t>
            </a:r>
            <a:r>
              <a:rPr lang="en-GB" dirty="0"/>
              <a:t>the plot creator made </a:t>
            </a:r>
            <a:r>
              <a:rPr lang="en-GB" i="1" dirty="0"/>
              <a:t>aesthetic choices that led to a specific message delivered</a:t>
            </a:r>
            <a:endParaRPr lang="en-GB" dirty="0"/>
          </a:p>
          <a:p>
            <a:pPr algn="just"/>
            <a:endParaRPr lang="en-GB" i="1" dirty="0"/>
          </a:p>
          <a:p>
            <a:pPr algn="just"/>
            <a:endParaRPr lang="en-GB" dirty="0"/>
          </a:p>
        </p:txBody>
      </p:sp>
      <p:sp>
        <p:nvSpPr>
          <p:cNvPr id="9" name="Rechteck 6">
            <a:extLst>
              <a:ext uri="{FF2B5EF4-FFF2-40B4-BE49-F238E27FC236}">
                <a16:creationId xmlns:a16="http://schemas.microsoft.com/office/drawing/2014/main" id="{46640DC2-93B6-899C-26BC-92434B9E1948}"/>
              </a:ext>
            </a:extLst>
          </p:cNvPr>
          <p:cNvSpPr/>
          <p:nvPr/>
        </p:nvSpPr>
        <p:spPr>
          <a:xfrm>
            <a:off x="509586" y="4739255"/>
            <a:ext cx="6138505" cy="1012166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just"/>
            <a:r>
              <a:rPr lang="en-GB" sz="1600" dirty="0">
                <a:solidFill>
                  <a:schemeClr val="tx1"/>
                </a:solidFill>
              </a:rPr>
              <a:t>These plots are </a:t>
            </a:r>
            <a:r>
              <a:rPr lang="en-GB" sz="1600" b="1" dirty="0">
                <a:solidFill>
                  <a:schemeClr val="tx1"/>
                </a:solidFill>
              </a:rPr>
              <a:t>static images</a:t>
            </a:r>
            <a:r>
              <a:rPr lang="en-GB" sz="1600" dirty="0">
                <a:solidFill>
                  <a:schemeClr val="tx1"/>
                </a:solidFill>
              </a:rPr>
              <a:t>. Data exploration is handled beforehand, by the creator of the image, who dictates exactly what the audience sees — </a:t>
            </a:r>
            <a:r>
              <a:rPr lang="en-GB" sz="1600" i="1" dirty="0">
                <a:solidFill>
                  <a:schemeClr val="tx1"/>
                </a:solidFill>
              </a:rPr>
              <a:t>a message is delivered and locked.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7E79F3-ECCE-B019-5817-9A76139EADAB}"/>
              </a:ext>
            </a:extLst>
          </p:cNvPr>
          <p:cNvGrpSpPr/>
          <p:nvPr/>
        </p:nvGrpSpPr>
        <p:grpSpPr>
          <a:xfrm>
            <a:off x="7251939" y="2507410"/>
            <a:ext cx="4860205" cy="2386521"/>
            <a:chOff x="7038546" y="2425635"/>
            <a:chExt cx="5153454" cy="258420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1B6FE6-0668-BA23-A595-9BEA67683D88}"/>
                </a:ext>
              </a:extLst>
            </p:cNvPr>
            <p:cNvSpPr/>
            <p:nvPr/>
          </p:nvSpPr>
          <p:spPr>
            <a:xfrm>
              <a:off x="7038546" y="2433110"/>
              <a:ext cx="5153454" cy="2576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6000" tIns="72000" rIns="126000" bIns="72000" rtlCol="0" anchor="t">
              <a:noAutofit/>
            </a:bodyPr>
            <a:lstStyle/>
            <a:p>
              <a:pPr algn="l">
                <a:spcAft>
                  <a:spcPts val="600"/>
                </a:spcAft>
              </a:pPr>
              <a:endParaRPr lang="en-GB" sz="12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3E40CC-3277-E374-41B1-DBB8D39EF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8546" y="2425635"/>
              <a:ext cx="5153454" cy="2576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374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D0AE-6BE4-194D-4711-3FD88C5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interactivity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3EA43-2242-82FA-F97A-0DF2128258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2DF9E3-4659-EE96-D520-44D36327C2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9586" y="1448076"/>
            <a:ext cx="10162800" cy="2107970"/>
          </a:xfrm>
        </p:spPr>
        <p:txBody>
          <a:bodyPr/>
          <a:lstStyle/>
          <a:p>
            <a:pPr marL="0" indent="0">
              <a:buNone/>
            </a:pPr>
            <a:r>
              <a:rPr lang="en-GB" i="1" dirty="0"/>
              <a:t>How interactivity is done in R</a:t>
            </a:r>
          </a:p>
          <a:p>
            <a:r>
              <a:rPr lang="en-GB" b="1" dirty="0"/>
              <a:t>Browser‑based HTML widgets: </a:t>
            </a:r>
            <a:r>
              <a:rPr lang="en-GB" dirty="0"/>
              <a:t>{</a:t>
            </a:r>
            <a:r>
              <a:rPr lang="en-GB" dirty="0" err="1"/>
              <a:t>plotly</a:t>
            </a:r>
            <a:r>
              <a:rPr lang="en-GB" dirty="0"/>
              <a:t>} and {</a:t>
            </a:r>
            <a:r>
              <a:rPr lang="en-GB" dirty="0" err="1"/>
              <a:t>highcharter</a:t>
            </a:r>
            <a:r>
              <a:rPr lang="en-GB" dirty="0"/>
              <a:t>} wrap JavaScript libraries so you can write R code and get interactive plots in HTML.</a:t>
            </a:r>
          </a:p>
          <a:p>
            <a:r>
              <a:rPr lang="en-GB" b="1" dirty="0"/>
              <a:t>Common interactions: </a:t>
            </a:r>
            <a:r>
              <a:rPr lang="en-GB" dirty="0"/>
              <a:t>tooltips on hover, panning/zooming, legend clicks to hide/show series, exporting as PNG.</a:t>
            </a:r>
          </a:p>
          <a:p>
            <a:r>
              <a:rPr lang="en-GB" dirty="0"/>
              <a:t>Interactivity becomes much stronger when combined with </a:t>
            </a:r>
            <a:r>
              <a:rPr lang="en-GB" b="1" dirty="0"/>
              <a:t>user inputs </a:t>
            </a:r>
            <a:r>
              <a:rPr lang="en-GB" dirty="0"/>
              <a:t>(sliders, dropdowns, checkboxes) that change what is plotted in real time.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7C6793-E0F3-717F-3F41-E6C9972FBA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924815"/>
            <a:ext cx="10497719" cy="246221"/>
          </a:xfrm>
        </p:spPr>
        <p:txBody>
          <a:bodyPr/>
          <a:lstStyle/>
          <a:p>
            <a:r>
              <a:rPr lang="en-GB" dirty="0"/>
              <a:t>Interactivity adds “live” exploration via hover, zoom, click, and user inputs; this is powerful, but not always better.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2790B3-46E2-BAC2-BAC8-3AC19E759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185705"/>
              </p:ext>
            </p:extLst>
          </p:nvPr>
        </p:nvGraphicFramePr>
        <p:xfrm>
          <a:off x="2032000" y="3749406"/>
          <a:ext cx="812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7725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61626960"/>
                    </a:ext>
                  </a:extLst>
                </a:gridCol>
              </a:tblGrid>
              <a:tr h="269560">
                <a:tc>
                  <a:txBody>
                    <a:bodyPr/>
                    <a:lstStyle/>
                    <a:p>
                      <a:r>
                        <a:rPr lang="en-GB" sz="1400" b="1" dirty="0"/>
                        <a:t>Pros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Cons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72576"/>
                  </a:ext>
                </a:extLst>
              </a:tr>
              <a:tr h="386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Let users explore patterns themselves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(e.g. zoom into a time window, select variables).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More technical and time consuming to develop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34168"/>
                  </a:ext>
                </a:extLst>
              </a:tr>
              <a:tr h="386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Great for dashboards, exploratory analysis, and demos.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More moving parts, harder to test and </a:t>
                      </a:r>
                      <a:r>
                        <a:rPr lang="en-GB" sz="1200" dirty="0">
                          <a:solidFill>
                            <a:srgbClr val="D31D19"/>
                          </a:solidFill>
                        </a:rPr>
                        <a:t>maintain</a:t>
                      </a:r>
                      <a:r>
                        <a:rPr lang="en-GB" sz="1200" dirty="0"/>
                        <a:t> than a static figure.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597419"/>
                  </a:ext>
                </a:extLst>
              </a:tr>
              <a:tr h="3861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Can improve understanding for non‑technical stakeholders.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Risk of “toy dashboards” that look impressive but are poorly designed, misleading or </a:t>
                      </a:r>
                      <a:r>
                        <a:rPr lang="en-GB" sz="1200" dirty="0" err="1">
                          <a:solidFill>
                            <a:srgbClr val="D31D19"/>
                          </a:solidFill>
                        </a:rPr>
                        <a:t>impactless</a:t>
                      </a:r>
                      <a:r>
                        <a:rPr lang="en-GB" sz="1200" dirty="0"/>
                        <a:t>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74258"/>
                  </a:ext>
                </a:extLst>
              </a:tr>
              <a:tr h="386165">
                <a:tc>
                  <a:txBody>
                    <a:bodyPr/>
                    <a:lstStyle/>
                    <a:p>
                      <a:r>
                        <a:rPr lang="en-GB" sz="1200" dirty="0"/>
                        <a:t>Can incorporate visualisations of many parameters (modelling)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Heavier for the browser; large data or many widgets can feel slow.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2571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22B939-3F9E-06EA-FCD1-8E78635B751C}"/>
              </a:ext>
            </a:extLst>
          </p:cNvPr>
          <p:cNvSpPr txBox="1"/>
          <p:nvPr/>
        </p:nvSpPr>
        <p:spPr>
          <a:xfrm>
            <a:off x="4928335" y="6191783"/>
            <a:ext cx="3762248" cy="4770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050" dirty="0"/>
              <a:t>Get started with </a:t>
            </a:r>
            <a:r>
              <a:rPr lang="en-GB" sz="1050" dirty="0" err="1"/>
              <a:t>plotly</a:t>
            </a:r>
            <a:r>
              <a:rPr lang="en-GB" sz="1050" dirty="0"/>
              <a:t> in R: </a:t>
            </a:r>
            <a:r>
              <a:rPr lang="en-GB" sz="1050" dirty="0">
                <a:hlinkClick r:id="rId2"/>
              </a:rPr>
              <a:t>https://</a:t>
            </a:r>
            <a:r>
              <a:rPr lang="en-GB" sz="1050" dirty="0" err="1">
                <a:hlinkClick r:id="rId2"/>
              </a:rPr>
              <a:t>plotly.com</a:t>
            </a:r>
            <a:r>
              <a:rPr lang="en-GB" sz="1050" dirty="0">
                <a:hlinkClick r:id="rId2"/>
              </a:rPr>
              <a:t>/r/getting-started/ </a:t>
            </a:r>
            <a:endParaRPr lang="en-GB" sz="1050" dirty="0"/>
          </a:p>
          <a:p>
            <a:pPr>
              <a:spcAft>
                <a:spcPts val="1200"/>
              </a:spcAft>
            </a:pPr>
            <a:r>
              <a:rPr lang="en-GB" sz="1050" dirty="0"/>
              <a:t>Wrapper for </a:t>
            </a:r>
            <a:r>
              <a:rPr lang="en-GB" sz="1050" dirty="0" err="1"/>
              <a:t>Highcharts</a:t>
            </a:r>
            <a:r>
              <a:rPr lang="en-GB" sz="1050" dirty="0"/>
              <a:t> library in R: </a:t>
            </a:r>
            <a:r>
              <a:rPr lang="en-GB" sz="1050" dirty="0">
                <a:hlinkClick r:id="rId3"/>
              </a:rPr>
              <a:t>https://</a:t>
            </a:r>
            <a:r>
              <a:rPr lang="en-GB" sz="1050" dirty="0" err="1">
                <a:hlinkClick r:id="rId3"/>
              </a:rPr>
              <a:t>jkunst.com</a:t>
            </a:r>
            <a:r>
              <a:rPr lang="en-GB" sz="1050" dirty="0">
                <a:hlinkClick r:id="rId3"/>
              </a:rPr>
              <a:t>/</a:t>
            </a:r>
            <a:r>
              <a:rPr lang="en-GB" sz="1050" dirty="0" err="1">
                <a:hlinkClick r:id="rId3"/>
              </a:rPr>
              <a:t>highcharter</a:t>
            </a:r>
            <a:r>
              <a:rPr lang="en-GB" sz="1050" dirty="0">
                <a:hlinkClick r:id="rId3"/>
              </a:rPr>
              <a:t>/ </a:t>
            </a:r>
            <a:endParaRPr lang="en-GB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82F056-5423-20EF-A305-E210A80F2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305" y="62202"/>
            <a:ext cx="996591" cy="11526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E58EEE-964E-3BD5-DDC5-6E87E27AC8FA}"/>
              </a:ext>
            </a:extLst>
          </p:cNvPr>
          <p:cNvSpPr txBox="1"/>
          <p:nvPr/>
        </p:nvSpPr>
        <p:spPr>
          <a:xfrm>
            <a:off x="1535503" y="630720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accent5"/>
                </a:solidFill>
              </a:rPr>
              <a:t>B-IDDE workshop | 10th </a:t>
            </a:r>
            <a:r>
              <a:rPr lang="fr-FR" sz="1000" dirty="0" err="1">
                <a:solidFill>
                  <a:schemeClr val="accent5"/>
                </a:solidFill>
              </a:rPr>
              <a:t>February</a:t>
            </a:r>
            <a:r>
              <a:rPr lang="fr-FR" sz="1000" dirty="0">
                <a:solidFill>
                  <a:schemeClr val="accent5"/>
                </a:solidFill>
              </a:rPr>
              <a:t>, 2026 | Hugo </a:t>
            </a:r>
            <a:r>
              <a:rPr lang="fr-FR" sz="1000" dirty="0" err="1">
                <a:solidFill>
                  <a:schemeClr val="accent5"/>
                </a:solidFill>
              </a:rPr>
              <a:t>Soubrier</a:t>
            </a:r>
            <a:endParaRPr lang="en-GB" sz="1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9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16F4-6913-618D-A6D0-C150E85B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{shiny} package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4B8F6-C0DE-6237-3F50-D12EE6798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80691-F558-4455-33B4-18508767A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B861B6-8309-AD6B-3182-A11464886C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Shiny is the framework that turns R code + interactivity into full web apps and dashboards.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6C8829-FF89-4E8D-C3D5-C1923AA96E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9587" y="1548032"/>
            <a:ext cx="9295771" cy="2431003"/>
          </a:xfrm>
        </p:spPr>
        <p:txBody>
          <a:bodyPr/>
          <a:lstStyle/>
          <a:p>
            <a:r>
              <a:rPr lang="en-GB" sz="1400" dirty="0"/>
              <a:t>{shiny} is </a:t>
            </a:r>
            <a:r>
              <a:rPr lang="en-GB" sz="1400" b="1" dirty="0"/>
              <a:t>an R package </a:t>
            </a:r>
            <a:r>
              <a:rPr lang="en-GB" sz="1400" dirty="0"/>
              <a:t>for building interactive web applications directly from R (no manual HTML/JS required).</a:t>
            </a:r>
          </a:p>
          <a:p>
            <a:r>
              <a:rPr lang="en-GB" sz="1400" dirty="0"/>
              <a:t>you can host </a:t>
            </a:r>
          </a:p>
          <a:p>
            <a:pPr lvl="1"/>
            <a:r>
              <a:rPr lang="en-GB" sz="1400" dirty="0"/>
              <a:t>standalone applications on a webpage, </a:t>
            </a:r>
          </a:p>
          <a:p>
            <a:pPr lvl="1"/>
            <a:r>
              <a:rPr lang="en-GB" sz="1400" dirty="0"/>
              <a:t>embed interactive charts in R Markdown documents</a:t>
            </a:r>
          </a:p>
          <a:p>
            <a:pPr lvl="1"/>
            <a:r>
              <a:rPr lang="en-GB" sz="1400" dirty="0"/>
              <a:t>build dashboards. </a:t>
            </a:r>
          </a:p>
          <a:p>
            <a:pPr lvl="1"/>
            <a:r>
              <a:rPr lang="en-GB" sz="1400" dirty="0"/>
              <a:t>Extend applications: CSS themes, HTML widgets, and JavaScript actions</a:t>
            </a:r>
            <a:br>
              <a:rPr lang="en-GB" sz="1400" dirty="0"/>
            </a:br>
            <a:endParaRPr lang="en-GB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2462C5-CFB3-BAF5-4FAC-FB69F6A5D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870" y="189940"/>
            <a:ext cx="3003832" cy="1690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88AB8A-4359-2A0D-6C01-86DA1E904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335" y="3494873"/>
            <a:ext cx="4901430" cy="3064245"/>
          </a:xfrm>
          <a:prstGeom prst="rect">
            <a:avLst/>
          </a:prstGeom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DB3E0CC4-3F1A-0EB7-7DB8-A233620ABF6E}"/>
              </a:ext>
            </a:extLst>
          </p:cNvPr>
          <p:cNvSpPr txBox="1">
            <a:spLocks/>
          </p:cNvSpPr>
          <p:nvPr/>
        </p:nvSpPr>
        <p:spPr>
          <a:xfrm>
            <a:off x="509587" y="4085905"/>
            <a:ext cx="6541070" cy="20074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Definitions</a:t>
            </a:r>
          </a:p>
          <a:p>
            <a:pPr marL="285750" indent="-285750"/>
            <a:r>
              <a:rPr lang="en-GB" sz="1400" dirty="0"/>
              <a:t>Shiny </a:t>
            </a:r>
            <a:r>
              <a:rPr lang="en-GB" sz="1400" i="1" dirty="0"/>
              <a:t>app</a:t>
            </a:r>
            <a:r>
              <a:rPr lang="en-GB" sz="1400" dirty="0"/>
              <a:t>: a web application defined by a UI object and a server function. </a:t>
            </a:r>
          </a:p>
          <a:p>
            <a:pPr marL="706950" lvl="1" indent="-285750"/>
            <a:r>
              <a:rPr lang="en-GB" sz="1400" dirty="0"/>
              <a:t>It can be a single interactive page, a tool, or a complex system.</a:t>
            </a:r>
          </a:p>
          <a:p>
            <a:pPr marL="285750" indent="-285750"/>
            <a:r>
              <a:rPr lang="en-GB" sz="1400" dirty="0"/>
              <a:t>Shiny </a:t>
            </a:r>
            <a:r>
              <a:rPr lang="en-GB" sz="1400" i="1" dirty="0"/>
              <a:t>dashboard</a:t>
            </a:r>
            <a:r>
              <a:rPr lang="en-GB" sz="1400" dirty="0"/>
              <a:t>: a Shiny app specifically designed to monitor, explore, or report data; </a:t>
            </a:r>
          </a:p>
          <a:p>
            <a:pPr marL="706950" lvl="1" indent="-285750"/>
            <a:r>
              <a:rPr lang="en-GB" sz="1400" dirty="0"/>
              <a:t>usually arranged in panels, boxes, and tabs for at‑a‑glance insight.</a:t>
            </a:r>
          </a:p>
        </p:txBody>
      </p:sp>
    </p:spTree>
    <p:extLst>
      <p:ext uri="{BB962C8B-B14F-4D97-AF65-F5344CB8AC3E}">
        <p14:creationId xmlns:p14="http://schemas.microsoft.com/office/powerpoint/2010/main" val="101616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C843AE7-755D-87E1-CC15-2B2433D67FD2}"/>
              </a:ext>
            </a:extLst>
          </p:cNvPr>
          <p:cNvSpPr/>
          <p:nvPr/>
        </p:nvSpPr>
        <p:spPr>
          <a:xfrm>
            <a:off x="4103272" y="1326071"/>
            <a:ext cx="1586213" cy="1104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C4877-4B97-6AE2-8C59-CEAECCA7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88" y="500444"/>
            <a:ext cx="2900722" cy="401256"/>
          </a:xfrm>
        </p:spPr>
        <p:txBody>
          <a:bodyPr/>
          <a:lstStyle/>
          <a:p>
            <a:r>
              <a:rPr lang="en-GB" dirty="0"/>
              <a:t>What is a shiny app?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2F4CC-5342-E2A6-3066-EDE92E813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BFBF3-E62C-AAC7-E09A-CECCEB7BDD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6BE057-EDAB-D18E-AF7F-CDD071724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7" y="924815"/>
            <a:ext cx="4660511" cy="246221"/>
          </a:xfrm>
        </p:spPr>
        <p:txBody>
          <a:bodyPr/>
          <a:lstStyle/>
          <a:p>
            <a:r>
              <a:rPr lang="en-GB" dirty="0"/>
              <a:t>Starts as with </a:t>
            </a:r>
            <a:r>
              <a:rPr lang="en-GB" sz="1600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app.R </a:t>
            </a:r>
            <a:r>
              <a:rPr lang="en-GB" dirty="0">
                <a:ea typeface="Fira Code" pitchFamily="49" charset="0"/>
                <a:cs typeface="Fira Code" pitchFamily="49" charset="0"/>
              </a:rPr>
              <a:t>and some key components: </a:t>
            </a:r>
            <a:endParaRPr lang="en-GB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7EF30905-9A01-F072-9FFD-80A0BDE17CBA}"/>
              </a:ext>
            </a:extLst>
          </p:cNvPr>
          <p:cNvSpPr txBox="1">
            <a:spLocks/>
          </p:cNvSpPr>
          <p:nvPr/>
        </p:nvSpPr>
        <p:spPr>
          <a:xfrm>
            <a:off x="509587" y="4994644"/>
            <a:ext cx="5960224" cy="10605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solidFill>
                  <a:srgbClr val="FFC000"/>
                </a:solidFill>
              </a:rPr>
              <a:t>Run the App</a:t>
            </a:r>
          </a:p>
          <a:p>
            <a:pPr lvl="1"/>
            <a:r>
              <a:rPr lang="en-GB" sz="1400" dirty="0"/>
              <a:t>Using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shinyApp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(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ui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, server)</a:t>
            </a:r>
          </a:p>
          <a:p>
            <a:pPr lvl="1"/>
            <a:r>
              <a:rPr lang="en-GB" sz="1400" dirty="0">
                <a:ea typeface="Fira Code" pitchFamily="49" charset="0"/>
                <a:cs typeface="Fira Code" pitchFamily="49" charset="0"/>
              </a:rPr>
              <a:t>Opens the app in a standalone web page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5A3EA4-CE69-71E1-1574-40266A294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670" y="1909426"/>
            <a:ext cx="5139542" cy="28353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9481D7-21C9-9033-C2DE-5E7C4FEF338C}"/>
              </a:ext>
            </a:extLst>
          </p:cNvPr>
          <p:cNvSpPr/>
          <p:nvPr/>
        </p:nvSpPr>
        <p:spPr>
          <a:xfrm>
            <a:off x="6764670" y="1909426"/>
            <a:ext cx="4121866" cy="879782"/>
          </a:xfrm>
          <a:prstGeom prst="rect">
            <a:avLst/>
          </a:prstGeom>
          <a:noFill/>
          <a:ln w="19050">
            <a:solidFill>
              <a:schemeClr val="accent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1A6DF6-B521-F1D5-A736-02E498F89CC9}"/>
              </a:ext>
            </a:extLst>
          </p:cNvPr>
          <p:cNvSpPr/>
          <p:nvPr/>
        </p:nvSpPr>
        <p:spPr>
          <a:xfrm>
            <a:off x="6764670" y="2869322"/>
            <a:ext cx="4121866" cy="1482320"/>
          </a:xfrm>
          <a:prstGeom prst="rect">
            <a:avLst/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933AE2-61A9-634F-F6E7-7CCF4C1F8C78}"/>
              </a:ext>
            </a:extLst>
          </p:cNvPr>
          <p:cNvSpPr/>
          <p:nvPr/>
        </p:nvSpPr>
        <p:spPr>
          <a:xfrm>
            <a:off x="6917070" y="3071004"/>
            <a:ext cx="3463383" cy="529087"/>
          </a:xfrm>
          <a:prstGeom prst="rect">
            <a:avLst/>
          </a:prstGeom>
          <a:noFill/>
          <a:ln w="19050">
            <a:solidFill>
              <a:srgbClr val="78AD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02D6F6-B65A-DFAD-F8AB-E58705DD54D0}"/>
              </a:ext>
            </a:extLst>
          </p:cNvPr>
          <p:cNvSpPr txBox="1"/>
          <p:nvPr/>
        </p:nvSpPr>
        <p:spPr>
          <a:xfrm>
            <a:off x="6764670" y="1650847"/>
            <a:ext cx="63318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1600" dirty="0" err="1">
                <a:solidFill>
                  <a:schemeClr val="bg1">
                    <a:lumMod val="65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app.R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61B8DC-C65C-890C-9D99-D2AFD9B8B6BB}"/>
              </a:ext>
            </a:extLst>
          </p:cNvPr>
          <p:cNvSpPr/>
          <p:nvPr/>
        </p:nvSpPr>
        <p:spPr>
          <a:xfrm>
            <a:off x="6764670" y="4480222"/>
            <a:ext cx="4121866" cy="252001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tIns="72000" rIns="126000" bIns="72000" rtlCol="0" anchor="t">
            <a:noAutofit/>
          </a:bodyPr>
          <a:lstStyle/>
          <a:p>
            <a:pPr algn="l">
              <a:spcAft>
                <a:spcPts val="6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Content Placeholder 7">
            <a:extLst>
              <a:ext uri="{FF2B5EF4-FFF2-40B4-BE49-F238E27FC236}">
                <a16:creationId xmlns:a16="http://schemas.microsoft.com/office/drawing/2014/main" id="{E2BEDC3A-2CD2-F230-0D42-CF02283EF1F6}"/>
              </a:ext>
            </a:extLst>
          </p:cNvPr>
          <p:cNvSpPr txBox="1">
            <a:spLocks/>
          </p:cNvSpPr>
          <p:nvPr/>
        </p:nvSpPr>
        <p:spPr>
          <a:xfrm>
            <a:off x="509587" y="3340036"/>
            <a:ext cx="5960224" cy="16546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solidFill>
                  <a:srgbClr val="78AD6C"/>
                </a:solidFill>
              </a:rPr>
              <a:t>Reactivity (reactive expression)</a:t>
            </a:r>
          </a:p>
          <a:p>
            <a:pPr lvl="1"/>
            <a:r>
              <a:rPr lang="en-GB" sz="1400" b="1" dirty="0">
                <a:solidFill>
                  <a:srgbClr val="78AD6C"/>
                </a:solidFill>
              </a:rPr>
              <a:t>Connects the user (inputs) with the server logic and the visual outputs</a:t>
            </a:r>
          </a:p>
          <a:p>
            <a:pPr lvl="1"/>
            <a:r>
              <a:rPr lang="en-GB" sz="1400" dirty="0"/>
              <a:t>When an input changes (e.g. a slider), any reactive expression depending on it re‑runs, and downstream outputs update automatically.</a:t>
            </a:r>
            <a:endParaRPr lang="en-GB" sz="1400" b="1" dirty="0"/>
          </a:p>
          <a:p>
            <a:pPr lvl="1"/>
            <a:r>
              <a:rPr lang="en-GB" sz="1400" dirty="0"/>
              <a:t>Inputs → reactive expressions → outputs.</a:t>
            </a:r>
          </a:p>
          <a:p>
            <a:endParaRPr lang="en-GB" sz="1400" b="1" dirty="0">
              <a:solidFill>
                <a:srgbClr val="78AD6C"/>
              </a:solidFill>
            </a:endParaRPr>
          </a:p>
        </p:txBody>
      </p:sp>
      <p:sp>
        <p:nvSpPr>
          <p:cNvPr id="43" name="Content Placeholder 7">
            <a:extLst>
              <a:ext uri="{FF2B5EF4-FFF2-40B4-BE49-F238E27FC236}">
                <a16:creationId xmlns:a16="http://schemas.microsoft.com/office/drawing/2014/main" id="{4AB9EA53-FA1D-92A2-E417-C7E27686D013}"/>
              </a:ext>
            </a:extLst>
          </p:cNvPr>
          <p:cNvSpPr txBox="1">
            <a:spLocks/>
          </p:cNvSpPr>
          <p:nvPr/>
        </p:nvSpPr>
        <p:spPr>
          <a:xfrm>
            <a:off x="509587" y="2381428"/>
            <a:ext cx="5960224" cy="8870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Server</a:t>
            </a:r>
          </a:p>
          <a:p>
            <a:pPr lvl="1"/>
            <a:r>
              <a:rPr lang="en-GB" sz="1400" dirty="0"/>
              <a:t>An R function that contains the logic: read inputs, transform data, create plots/tables, define outputs.</a:t>
            </a:r>
            <a:endParaRPr lang="en-GB" sz="1400" b="1" dirty="0"/>
          </a:p>
        </p:txBody>
      </p:sp>
      <p:sp>
        <p:nvSpPr>
          <p:cNvPr id="45" name="Content Placeholder 7">
            <a:extLst>
              <a:ext uri="{FF2B5EF4-FFF2-40B4-BE49-F238E27FC236}">
                <a16:creationId xmlns:a16="http://schemas.microsoft.com/office/drawing/2014/main" id="{25743575-7BE6-32D6-A16B-D0B39CAEB8F6}"/>
              </a:ext>
            </a:extLst>
          </p:cNvPr>
          <p:cNvSpPr txBox="1">
            <a:spLocks/>
          </p:cNvSpPr>
          <p:nvPr/>
        </p:nvSpPr>
        <p:spPr>
          <a:xfrm>
            <a:off x="509587" y="1493026"/>
            <a:ext cx="5960224" cy="8884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62000" indent="-16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83200" indent="-19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harité Text Office" pitchFamily="2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User Interface (UI)</a:t>
            </a:r>
            <a:endParaRPr lang="en-GB" sz="1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GB" sz="1400" dirty="0"/>
              <a:t>Describes what the user sees: layouts, panels, tabs, and input/output widgets.</a:t>
            </a:r>
            <a:endParaRPr lang="en-GB" sz="1400" b="1" dirty="0"/>
          </a:p>
          <a:p>
            <a:endParaRPr lang="en-GB" sz="1400" b="1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08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 animBg="1"/>
      <p:bldP spid="34" grpId="0" animBg="1"/>
      <p:bldP spid="35" grpId="0" animBg="1"/>
      <p:bldP spid="36" grpId="0"/>
      <p:bldP spid="37" grpId="0" animBg="1"/>
      <p:bldP spid="42" grpId="0"/>
      <p:bldP spid="43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B9B7-0B5F-DF07-7F6B-9A877990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0FFDC-7605-D5BC-55D1-D053E7B1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563" y="1143000"/>
            <a:ext cx="5076000" cy="4567238"/>
          </a:xfrm>
        </p:spPr>
        <p:txBody>
          <a:bodyPr/>
          <a:lstStyle/>
          <a:p>
            <a:r>
              <a:rPr lang="en-GB" dirty="0"/>
              <a:t>Quick demo (5min)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8D9D5B-F126-27B3-C5A9-A70F6231AA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60E2C3-945D-70F1-8EE9-450DD75B4C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788E1-67FA-6FDF-8CD7-53A1C205E6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009AE-D5E5-7D5C-5FD2-0DE6DF03B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73" y="2018884"/>
            <a:ext cx="5002430" cy="28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7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E7D0-4309-AF7F-911A-FD228C60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A42118-6EC6-53FE-312B-38C8451C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563" y="1143000"/>
            <a:ext cx="5076000" cy="4567238"/>
          </a:xfrm>
        </p:spPr>
        <p:txBody>
          <a:bodyPr/>
          <a:lstStyle/>
          <a:p>
            <a:r>
              <a:rPr lang="en-GB" dirty="0"/>
              <a:t>Self pace tutorial (1h30)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81C0FB-C48C-47B9-EE34-CFD046BCEF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B591E-070A-CAD0-4C39-B113CA6951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35ECA-887D-EB2C-D13A-8711CA4A10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4FE59-E137-E935-01AE-997D279DB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73" y="2018884"/>
            <a:ext cx="5002430" cy="28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7AB5-20AB-F620-6301-1A83801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20563-5CFA-D12F-242D-FCCB82E8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563" y="1143000"/>
            <a:ext cx="5076000" cy="4567238"/>
          </a:xfrm>
        </p:spPr>
        <p:txBody>
          <a:bodyPr/>
          <a:lstStyle/>
          <a:p>
            <a:r>
              <a:rPr lang="en-GB" dirty="0"/>
              <a:t>Wrap-up (15min)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AC20DA-CE31-F763-2938-19F27D5443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24771-B3D0-1978-D152-D636232A95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B-IDDE workshop | 10th </a:t>
            </a:r>
            <a:r>
              <a:rPr lang="fr-FR" dirty="0" err="1"/>
              <a:t>February</a:t>
            </a:r>
            <a:r>
              <a:rPr lang="fr-FR" dirty="0"/>
              <a:t>, 2026 | Hugo </a:t>
            </a:r>
            <a:r>
              <a:rPr lang="fr-FR" dirty="0" err="1"/>
              <a:t>Soubrier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547CD-1384-F2F5-CCEC-5CB9345DB0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9C953F-34B1-4DD2-A3DB-3A35190EAD1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E4FAA-F92D-74E3-CBA4-A7DCD415D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73" y="2018884"/>
            <a:ext cx="5002430" cy="28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60617"/>
      </p:ext>
    </p:extLst>
  </p:cSld>
  <p:clrMapOvr>
    <a:masterClrMapping/>
  </p:clrMapOvr>
</p:sld>
</file>

<file path=ppt/theme/theme1.xml><?xml version="1.0" encoding="utf-8"?>
<a:theme xmlns:a="http://schemas.openxmlformats.org/drawingml/2006/main" name="Charite_potx_en">
  <a:themeElements>
    <a:clrScheme name="Charité 2023">
      <a:dk1>
        <a:srgbClr val="000000"/>
      </a:dk1>
      <a:lt1>
        <a:sysClr val="window" lastClr="FFFFFF"/>
      </a:lt1>
      <a:dk2>
        <a:srgbClr val="5E676C"/>
      </a:dk2>
      <a:lt2>
        <a:srgbClr val="EA5451"/>
      </a:lt2>
      <a:accent1>
        <a:srgbClr val="002552"/>
      </a:accent1>
      <a:accent2>
        <a:srgbClr val="004D9B"/>
      </a:accent2>
      <a:accent3>
        <a:srgbClr val="007BC3"/>
      </a:accent3>
      <a:accent4>
        <a:srgbClr val="5E676C"/>
      </a:accent4>
      <a:accent5>
        <a:srgbClr val="7E898F"/>
      </a:accent5>
      <a:accent6>
        <a:srgbClr val="CBCFD2"/>
      </a:accent6>
      <a:hlink>
        <a:srgbClr val="000000"/>
      </a:hlink>
      <a:folHlink>
        <a:srgbClr val="5E676C"/>
      </a:folHlink>
    </a:clrScheme>
    <a:fontScheme name="Charite Fonts">
      <a:majorFont>
        <a:latin typeface="Charité Headline Office"/>
        <a:ea typeface=""/>
        <a:cs typeface=""/>
      </a:majorFont>
      <a:minorFont>
        <a:latin typeface="Charité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lIns="126000" tIns="72000" rIns="126000" bIns="72000" rtlCol="0" anchor="t">
        <a:noAutofit/>
      </a:bodyPr>
      <a:lstStyle>
        <a:defPPr algn="l">
          <a:spcAft>
            <a:spcPts val="600"/>
          </a:spcAft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1200"/>
          </a:spcAft>
          <a:defRPr sz="1600" dirty="0" err="1" smtClean="0"/>
        </a:defPPr>
      </a:lstStyle>
    </a:txDef>
  </a:objectDefaults>
  <a:extraClrSchemeLst/>
  <a:custClrLst>
    <a:custClr name="FunktionsfarbeRot">
      <a:srgbClr val="D31D19"/>
    </a:custClr>
    <a:custClr name="FunktionsfarbeGruen">
      <a:srgbClr val="78AD6C"/>
    </a:custClr>
  </a:custClrLst>
  <a:extLst>
    <a:ext uri="{05A4C25C-085E-4340-85A3-A5531E510DB2}">
      <thm15:themeFamily xmlns:thm15="http://schemas.microsoft.com/office/thememl/2012/main" name="Charite-Praesentation_Vorlage_EN" id="{4BC1338F-8CF7-164B-8BF4-E5E78AA01B78}" vid="{D6EF5ECD-B031-9E4E-9144-D8C1A72BC19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Charite_potx_en</Template>
  <TotalTime>199</TotalTime>
  <Words>889</Words>
  <Application>Microsoft Macintosh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Charité Text Office Medium</vt:lpstr>
      <vt:lpstr>Charité Headline Office</vt:lpstr>
      <vt:lpstr>Charité Headline Office Light</vt:lpstr>
      <vt:lpstr>Charité Text Office</vt:lpstr>
      <vt:lpstr>Fira Code</vt:lpstr>
      <vt:lpstr>Arial</vt:lpstr>
      <vt:lpstr>Charite_potx_en</vt:lpstr>
      <vt:lpstr>Introduction to {shiny} dashboards  Hugo Soubrier | February 10th, 2026 | Charité Mitte</vt:lpstr>
      <vt:lpstr>Workshop Agenda</vt:lpstr>
      <vt:lpstr>R {shiny} dashboards (10min)</vt:lpstr>
      <vt:lpstr>R visualisation (static)</vt:lpstr>
      <vt:lpstr>Why interactivity ?</vt:lpstr>
      <vt:lpstr>{shiny} package</vt:lpstr>
      <vt:lpstr>What is a shiny app? </vt:lpstr>
      <vt:lpstr>Quick demo (5min)</vt:lpstr>
      <vt:lpstr>Self pace tutorial (1h30)</vt:lpstr>
      <vt:lpstr>Wrap-up (15min)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Soubrier, Hugo Jean-Jacques</dc:creator>
  <cp:lastModifiedBy>Soubrier, Hugo Jean-Jacques</cp:lastModifiedBy>
  <cp:revision>5</cp:revision>
  <dcterms:created xsi:type="dcterms:W3CDTF">2026-02-04T10:47:09Z</dcterms:created>
  <dcterms:modified xsi:type="dcterms:W3CDTF">2026-02-04T14:06:34Z</dcterms:modified>
</cp:coreProperties>
</file>